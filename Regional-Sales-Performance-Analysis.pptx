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  <p:embeddedFont>
      <p:font typeface="Host Grotesk ExtraBold"/>
      <p:regular r:id="rId201319"/>
    </p:embeddedFont>
    <p:embeddedFont>
      <p:font typeface="Roboto Light"/>
      <p:regular r:id="rId201320"/>
    </p:embeddedFont>
    <p:embeddedFont>
      <p:font typeface="Roboto"/>
      <p:regular r:id="rId201321"/>
    </p:embeddedFont>
    <p:embeddedFont>
      <p:font typeface="Roboto Thin"/>
      <p:regular r:id="rId201322"/>
    </p:embeddedFont>
    <p:embeddedFont>
      <p:font typeface="Roboto ExtraLight"/>
      <p:regular r:id="rId201323"/>
    </p:embeddedFont>
    <p:embeddedFont>
      <p:font typeface="Roboto Medium"/>
      <p:regular r:id="rId201324"/>
    </p:embeddedFont>
    <p:embeddedFont>
      <p:font typeface="Roboto SemiBold"/>
      <p:regular r:id="rId201325"/>
    </p:embeddedFont>
    <p:embeddedFont>
      <p:font typeface="Roboto Bold"/>
      <p:regular r:id="rId201326"/>
    </p:embeddedFont>
    <p:embeddedFont>
      <p:font typeface="Roboto ExtraBold"/>
      <p:regular r:id="rId201327"/>
    </p:embeddedFont>
    <p:embeddedFont>
      <p:font typeface="Roboto Black"/>
      <p:regular r:id="rId2013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9781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Regional Sales Performance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96394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underperforming branches across the US supermarket chain through multi-level data analysis.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85827"/>
            <a:ext cx="1302693" cy="255091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328318"/>
            <a:ext cx="1589782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9,800 TRANSACTIONS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298653" y="3281065"/>
            <a:ext cx="908745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88471" y="3328318"/>
            <a:ext cx="118630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US REGIONS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278240" y="3281065"/>
            <a:ext cx="1488802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68058" y="3328318"/>
            <a:ext cx="1766367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 → STATE → CITY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180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2914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9,799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2740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Cleaned Rows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80605"/>
            <a:ext cx="39872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removing 1 duplicate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62914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22740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580605"/>
            <a:ext cx="398732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Orders, Customers, Products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147566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11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37925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4099024"/>
            <a:ext cx="3987254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Postal Code (imputed)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3147566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$459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37925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National AOV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4099024"/>
            <a:ext cx="3987329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Order Value benchmark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2031"/>
            <a:ext cx="439385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96119" y="988070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192113"/>
            <a:ext cx="4722763" cy="142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28490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96119" y="1555403"/>
            <a:ext cx="4722763" cy="18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pandas: 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96119" y="1956569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47813"/>
            <a:ext cx="4722763" cy="14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25340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96119" y="2523902"/>
            <a:ext cx="4722763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Postal Codes; removed duplicates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96119" y="292030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098676"/>
            <a:ext cx="4722763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21714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Standardize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96119" y="3487638"/>
            <a:ext cx="4722763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Renamed columns to snake_case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96119" y="3884042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4049613"/>
            <a:ext cx="4722763" cy="142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119" y="418088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 to DB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96119" y="4451375"/>
            <a:ext cx="4722763" cy="18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Connected to PostgreSQL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94915"/>
            <a:ext cx="425894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3-Layer Drill-Down Approach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27869"/>
            <a:ext cx="7794947" cy="3567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84328" y="1397610"/>
            <a:ext cx="1724330" cy="2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84328" y="1674461"/>
            <a:ext cx="1900594" cy="30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AOV, SPC, OPC; flag Critical/Warning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81800" y="2570154"/>
            <a:ext cx="1724330" cy="2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58809" y="2847005"/>
            <a:ext cx="1747321" cy="30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 into South; benchmark vs national averages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84328" y="3175586"/>
            <a:ext cx="1724330" cy="2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84328" y="3452436"/>
            <a:ext cx="1900594" cy="30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worst-performing cities in TN, NC, FL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74489" y="4596408"/>
            <a:ext cx="8252147" cy="15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layer filters the next — from broad regional KPIs down to specific underperforming cities.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KPI Framework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966713"/>
            <a:ext cx="3685952" cy="3685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2456036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Overall Status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11750" y="2715518"/>
            <a:ext cx="3685952" cy="504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Healthy</a:t>
            </a:r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All KPIs meet benchmarks</a:t>
            </a:r>
            <a:endParaRPr lang="en-US" sz="850" dirty="0"/>
          </a:p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Warning</a:t>
            </a:r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Some below benchmark</a:t>
            </a:r>
            <a:endParaRPr lang="en-US" sz="850" dirty="0"/>
          </a:p>
          <a:p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</a:t>
            </a:r>
            <a:pPr algn="l" marL="342900" indent="-342900">
              <a:lnSpc>
                <a:spcPct val="111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All below benchmark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7839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Layer 1 — Regional Performance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9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Lowest sales ($389K),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Warning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All 3 KPIs below benchmark,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East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Only 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Healthy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region — best-practice benchmark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Highest sales, but AOV below national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998887"/>
            <a:ext cx="3902943" cy="538535"/>
          </a:xfrm>
          <a:prstGeom prst="roundRect">
            <a:avLst>
              <a:gd name="adj" fmla="val 11056"/>
            </a:avLst>
          </a:prstGeom>
          <a:solidFill>
            <a:srgbClr val="C6E4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20441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161854"/>
            <a:ext cx="375768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South selected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drill-down — lowest total sales.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5528"/>
            <a:ext cx="5155629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Layer 2 — South Region States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96119" y="1017687"/>
            <a:ext cx="4722763" cy="750838"/>
          </a:xfrm>
          <a:prstGeom prst="roundRect">
            <a:avLst>
              <a:gd name="adj" fmla="val 7434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3785" y="115535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Tennessee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3785" y="1437754"/>
            <a:ext cx="4447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AOV $336.94 — largest gap (-$122.48)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6119" y="1893094"/>
            <a:ext cx="4722763" cy="750838"/>
          </a:xfrm>
          <a:prstGeom prst="roundRect">
            <a:avLst>
              <a:gd name="adj" fmla="val 7434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785" y="203076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Florida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3785" y="2313161"/>
            <a:ext cx="4447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22.7% of South sales ($88K) — still Critical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6119" y="2768501"/>
            <a:ext cx="4722763" cy="750838"/>
          </a:xfrm>
          <a:prstGeom prst="roundRect">
            <a:avLst>
              <a:gd name="adj" fmla="val 7434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3785" y="290616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North Carolina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3785" y="3188568"/>
            <a:ext cx="4447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134 orders, AOV only $411.69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643908"/>
            <a:ext cx="4722763" cy="750838"/>
          </a:xfrm>
          <a:prstGeom prst="roundRect">
            <a:avLst>
              <a:gd name="adj" fmla="val 7434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785" y="3781574"/>
            <a:ext cx="187709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Louisiana &amp; Arkansas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3785" y="4063975"/>
            <a:ext cx="4447431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OPC = 1.00 — near-zero repeat purchases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6119" y="4534867"/>
            <a:ext cx="5179963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of 11 states are </a:t>
            </a:r>
            <a:pPr algn="l" indent="0" marL="0">
              <a:lnSpc>
                <a:spcPct val="121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</a:t>
            </a:r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South's issues are widespread.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821"/>
            <a:ext cx="484472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Layer 3 — City-Level Findings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15244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Priority Cities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831" y="1446907"/>
            <a:ext cx="2663651" cy="969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1707" y="158963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Miami, FL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1707" y="1906712"/>
            <a:ext cx="2321049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Critical sales ($8,647), AOV $262.06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2533278"/>
            <a:ext cx="2663651" cy="9699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707" y="267600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Jacksonville, NC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81707" y="2993082"/>
            <a:ext cx="2321049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orders, AOV $242.60 — top NC priority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31" y="3619649"/>
            <a:ext cx="2663651" cy="9699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1707" y="376237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Tennessee (all cities)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1707" y="4079453"/>
            <a:ext cx="2321049" cy="367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city below national AOV — structural issue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3677" y="1389534"/>
            <a:ext cx="5188893" cy="2940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8448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Priority Action List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102891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5939" y="1127820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19683" y="114850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Miami, FL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9683" y="1430908"/>
            <a:ext cx="7728198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 orders, AOV $262.06 (gap -$197.36)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1873151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939" y="189807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9683" y="191876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Jacksonville, NC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9683" y="2201168"/>
            <a:ext cx="7728198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orders, AOV $242.60 (gap -$216.82)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119" y="2643411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939" y="266833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9683" y="2689027"/>
            <a:ext cx="168704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Tennessee — All Cities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9683" y="2971428"/>
            <a:ext cx="7728198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low-AOV statewide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3413671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939" y="343859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9683" y="3459287"/>
            <a:ext cx="182574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Hialeah &amp; Hollywood, FL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9683" y="3741688"/>
            <a:ext cx="7728198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AOV gap, low volume — medium priority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6119" y="4183931"/>
            <a:ext cx="298996" cy="298996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939" y="420885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9683" y="422954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Wilmington, NC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9683" y="4511948"/>
            <a:ext cx="7728198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Largest AOV gap (-$376.85), only 9 orders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2713"/>
            <a:ext cx="573792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Recommendations &amp; Next Steps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10060"/>
            <a:ext cx="272013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Business Recommendations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73275"/>
            <a:ext cx="3902943" cy="1211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Audit product mix — low-value dominance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Miami &amp; Jacksonville NC: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Boost AOV at high-volume branches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&amp; AR: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Launch customer retention programs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East Region &amp; Jacksonville FL:</a:t>
            </a:r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Replicate best practices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47605" y="1768301"/>
            <a:ext cx="4107135" cy="2262411"/>
          </a:xfrm>
          <a:prstGeom prst="roundRect">
            <a:avLst>
              <a:gd name="adj" fmla="val 4512"/>
            </a:avLst>
          </a:prstGeom>
          <a:solidFill>
            <a:srgbClr val="95CCDA"/>
          </a:solidFill>
          <a:ln/>
        </p:spPr>
      </p:sp>
      <p:sp>
        <p:nvSpPr>
          <p:cNvPr id="6" name="Text 4"/>
          <p:cNvSpPr/>
          <p:nvPr/>
        </p:nvSpPr>
        <p:spPr>
          <a:xfrm>
            <a:off x="4789363" y="191006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89363" y="2273275"/>
            <a:ext cx="3823618" cy="687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product categories by city</a:t>
            </a:r>
            <a:endParaRPr lang="en-US" sz="1100" dirty="0"/>
          </a:p>
          <a:p>
            <a:pPr algn="l"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SPC/OPC benchmarks to avoid cross-state double-counting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89363" y="3120107"/>
            <a:ext cx="3823618" cy="751136"/>
          </a:xfrm>
          <a:prstGeom prst="roundRect">
            <a:avLst>
              <a:gd name="adj" fmla="val 7927"/>
            </a:avLst>
          </a:prstGeom>
          <a:solidFill>
            <a:srgbClr val="C6E4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1122" y="3325639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50061" y="3283074"/>
            <a:ext cx="322116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Limitations: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Cross-state customers may slightly skew SPC/OPC. AOV remains fully accurate.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2026-06-17T09:55:38Z</dcterms:created>
  <dcterms:modified xsi:type="dcterms:W3CDTF">2026-06-17T09:55:38Z</dcterms:modified>
</cp:coreProperties>
</file>